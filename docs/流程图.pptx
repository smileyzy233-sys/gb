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7a63887dae94e62" /><Relationship Type="http://schemas.openxmlformats.org/officeDocument/2006/relationships/extended-properties" Target="/docProps/app.xml" Id="R721a54ce5c904b55" /><Relationship Type="http://schemas.openxmlformats.org/officeDocument/2006/relationships/officeDocument" Target="/ppt/presentation.xml" Id="R93f4427e87b7498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222ac39c7524d57"/>
  </p:sldMasterIdLst>
  <p:notesMasterIdLst>
    <p:notesMasterId xmlns:r="http://schemas.openxmlformats.org/officeDocument/2006/relationships" r:id="R32a8778c246f4ccd"/>
  </p:notesMasterIdLst>
  <p:sldIdLst>
    <p:sldId xmlns:r="http://schemas.openxmlformats.org/officeDocument/2006/relationships" id="256" r:id="R0051367cb799490f"/>
    <p:sldId xmlns:r="http://schemas.openxmlformats.org/officeDocument/2006/relationships" id="257" r:id="R1ef2b38d3c984bf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247f7100b724082" /><Relationship Type="http://schemas.openxmlformats.org/officeDocument/2006/relationships/slideMaster" Target="/ppt/slideMasters/slideMaster1.xml" Id="Re222ac39c7524d57" /><Relationship Type="http://schemas.openxmlformats.org/officeDocument/2006/relationships/notesMaster" Target="/ppt/notesMasters/notesMaster1.xml" Id="R32a8778c246f4ccd" /><Relationship Type="http://schemas.openxmlformats.org/officeDocument/2006/relationships/presProps" Target="/ppt/presProps.xml" Id="R39a34061028746b1" /><Relationship Type="http://schemas.openxmlformats.org/officeDocument/2006/relationships/viewProps" Target="/ppt/viewProps.xml" Id="Rdc47db4ea49b478a" /><Relationship Type="http://schemas.openxmlformats.org/officeDocument/2006/relationships/tableStyles" Target="/ppt/tableStyles.xml" Id="R8ea5ed761bcd48b9" /><Relationship Type="http://schemas.openxmlformats.org/officeDocument/2006/relationships/slide" Target="/ppt/slides/slide1.xml" Id="R0051367cb799490f" /><Relationship Type="http://schemas.openxmlformats.org/officeDocument/2006/relationships/slide" Target="/ppt/slides/slide2.xml" Id="R1ef2b38d3c984bf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e8bcf0804f6442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d6e97bae2c84d76" /><Relationship Type="http://schemas.openxmlformats.org/officeDocument/2006/relationships/notesMaster" Target="/ppt/notesMasters/notesMaster1.xml" Id="R7be4b71e2912429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474533522214bd3" /><Relationship Type="http://schemas.openxmlformats.org/officeDocument/2006/relationships/notesMaster" Target="/ppt/notesMasters/notesMaster1.xml" Id="Ra104df07d3a84cd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9f4928473a4ce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c3631bfcf44c04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clean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CEDA099-E320-48D7-87C5-57A3C0F54A15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92240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200">
                <a:solidFill>
                  <a:srgbClr val="FFFFFF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9daf6d24eed4f6c" /><Relationship Type="http://schemas.openxmlformats.org/officeDocument/2006/relationships/slideLayout" Target="/ppt/slideLayouts/slideLayout1.xml" Id="R4f45bfb359d049d1" /><Relationship Type="http://schemas.openxmlformats.org/officeDocument/2006/relationships/slideLayout" Target="/ppt/slideLayouts/slideLayout2.xml" Id="R8ba56fa3ac2146c9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FF245DE2-78B5-4882-9B16-F35D8DB97145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92240"/>
            <a:ext cx="800000" cy="3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200">
                <a:solidFill>
                  <a:srgbClr val="FFFFFF"/>
                </a:solidFill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f45bfb359d049d1"/>
    <p:sldLayoutId xmlns:r="http://schemas.openxmlformats.org/officeDocument/2006/relationships" id="2147483650" r:id="R8ba56fa3ac2146c9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0e63fd7d2246a8" /><Relationship Type="http://schemas.openxmlformats.org/officeDocument/2006/relationships/notesSlide" Target="/ppt/notesSlides/notesSlide1.xml" Id="R606091c0629a4b9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b090f6e72604ef3" /><Relationship Type="http://schemas.openxmlformats.org/officeDocument/2006/relationships/notesSlide" Target="/ppt/notesSlides/notesSlide2.xml" Id="Refa8bed610cd479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F40EA60-19F9-4F84-9751-9BDE198A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1069846"/>
            <a:ext cx="3657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3F4BC056-1EA4-41B1-B70E-40A6FDB5A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969264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645EFFC-C53C-46CC-8A78-AA3CF0CB6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6094476" y="1325879"/>
            <a:ext cx="0" cy="35708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1E293B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69E6F6A-9960-400B-B50D-9F71AD130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9372" y="1666820"/>
            <a:ext cx="39502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1E293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668EBF3-1DBD-4D38-B844-250C5A9C8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511" y="1662667"/>
            <a:ext cx="0" cy="3171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1E293B"/>
            </a:solidFill>
            <a:prstDash val="solid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A135230-124E-447B-B52C-FF35D7946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275" y="2971448"/>
            <a:ext cx="0" cy="1828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1E293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37C13141-742E-4CA3-B593-9BF456993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880" y="2693068"/>
            <a:ext cx="0" cy="1828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1E293B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511E44B-6A27-4214-8C08-78CFF1EC8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6672" y="3133100"/>
            <a:ext cx="39502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1E293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993224CC-B8EC-47EB-BDFB-5F54E5711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6094476" y="3133100"/>
            <a:ext cx="0" cy="2553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1E293B"/>
            </a:solidFill>
            <a:prstDash val="solid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D8091369-C477-4F01-97D5-BD12364D8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476" y="3970408"/>
            <a:ext cx="0" cy="31183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18A60B37-98FC-44D1-A7BF-0D568BA06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476" y="4880378"/>
            <a:ext cx="0" cy="19797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327E2E9-58DB-441C-9C79-0E4AC4908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4592"/>
            <a:ext cx="1081735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企业企业国际技术规则接轨证据识别与聚合流程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F59D36CC-EA4B-4732-B83F-52E13AE20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704087"/>
            <a:ext cx="1700784" cy="73151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510">
            <a:solidFill>
              <a:srgbClr val="1E293B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DAD526F-B899-4994-B787-F7B1D477B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704086"/>
            <a:ext cx="1700784" cy="73151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E293B"/>
                </a:solidFill>
                <a:latin typeface="宋体"/>
                <a:ea typeface="宋体"/>
                <a:cs typeface="宋体"/>
              </a:rPr>
              <a:t>年报文本样本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7A336947-FFB2-4460-BD4A-74E2DB89F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704087"/>
            <a:ext cx="1737359" cy="7132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510">
            <a:solidFill>
              <a:srgbClr val="1E293B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80580DBC-3A91-4979-8D50-84A24FA03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799" y="687946"/>
            <a:ext cx="1737359" cy="7202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E293B"/>
                </a:solidFill>
                <a:latin typeface="宋体"/>
                <a:ea typeface="宋体"/>
                <a:cs typeface="宋体"/>
              </a:rPr>
              <a:t>目标章节提取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A8B521B7-8F4B-417D-A4EF-E1B70F0BA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694944"/>
            <a:ext cx="2148840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510">
            <a:solidFill>
              <a:srgbClr val="1E293B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ABBEC98F-E846-452E-9817-BE144E828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198" y="671666"/>
            <a:ext cx="2133604" cy="72022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E293B"/>
                </a:solidFill>
                <a:latin typeface="宋体"/>
                <a:ea typeface="宋体"/>
                <a:cs typeface="宋体"/>
              </a:rPr>
              <a:t>待识别文本片段</a:t>
            </a:r>
          </a:p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E293B"/>
                </a:solidFill>
                <a:latin typeface="宋体"/>
                <a:ea typeface="宋体"/>
                <a:cs typeface="宋体"/>
              </a:rPr>
              <a:t>按段落或句群切分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543CD276-34F7-42FC-B820-C4667DB0E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5528" y="1986510"/>
            <a:ext cx="2427570" cy="9849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6510">
            <a:solidFill>
              <a:srgbClr val="1E293B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938CB03-7444-4E77-8410-DB049E315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5526" y="1977368"/>
            <a:ext cx="2427572" cy="9830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E293B"/>
                </a:solidFill>
                <a:latin typeface="宋体"/>
                <a:ea typeface="宋体"/>
                <a:cs typeface="宋体"/>
              </a:rPr>
              <a:t>关键词规则召回</a:t>
            </a:r>
          </a:p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E293B"/>
                </a:solidFill>
                <a:latin typeface="宋体"/>
                <a:ea typeface="宋体"/>
                <a:cs typeface="宋体"/>
              </a:rPr>
              <a:t>命中标准、认证、体系等术语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5B5FD798-E1C7-4487-92DF-FF5BB8A25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04" y="1962854"/>
            <a:ext cx="2493814" cy="9848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6510">
            <a:solidFill>
              <a:srgbClr val="1E293B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1DF8C8FA-DFC6-4D88-B367-5AB7312B6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03" y="1945499"/>
            <a:ext cx="2493815" cy="98489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E293B"/>
                </a:solidFill>
                <a:latin typeface="宋体"/>
                <a:ea typeface="宋体"/>
                <a:cs typeface="宋体"/>
              </a:rPr>
              <a:t>大模型语义初筛</a:t>
            </a:r>
          </a:p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E293B"/>
                </a:solidFill>
                <a:latin typeface="宋体"/>
                <a:ea typeface="宋体"/>
                <a:cs typeface="宋体"/>
              </a:rPr>
              <a:t>判断是否可能涉及标准采纳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9D4BF169-F1F5-4933-916A-602157BD9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275" y="3421768"/>
            <a:ext cx="3963606" cy="63557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6510">
            <a:solidFill>
              <a:srgbClr val="1E293B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CA6ACDAD-12D4-4849-AC6A-637A3D367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6672" y="3428299"/>
            <a:ext cx="3950210" cy="6511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E293B"/>
                </a:solidFill>
                <a:latin typeface="宋体"/>
                <a:ea typeface="宋体"/>
                <a:cs typeface="宋体"/>
              </a:rPr>
              <a:t>候选片段集合</a:t>
            </a:r>
          </a:p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E293B"/>
                </a:solidFill>
                <a:latin typeface="宋体"/>
                <a:ea typeface="宋体"/>
                <a:cs typeface="宋体"/>
              </a:rPr>
              <a:t>关键词召回或语义初筛相关（二者取并集）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D90E3F79-2F45-4010-916F-234FE67CC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9372" y="4275658"/>
            <a:ext cx="3977510" cy="604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510">
            <a:solidFill>
              <a:srgbClr val="1E293B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360ED08E-AC29-4F32-901C-13C891D70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656" y="4282238"/>
            <a:ext cx="3985879" cy="59813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E293B"/>
                </a:solidFill>
                <a:latin typeface="宋体"/>
                <a:ea typeface="宋体"/>
                <a:cs typeface="宋体"/>
              </a:rPr>
              <a:t>结构化识别</a:t>
            </a:r>
          </a:p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E293B"/>
                </a:solidFill>
                <a:latin typeface="宋体"/>
                <a:ea typeface="宋体"/>
                <a:cs typeface="宋体"/>
              </a:rPr>
              <a:t>识别标准名称、类型、采纳状态与证据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B4673C73-B859-40FC-98AE-7A42D6EBF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656" y="5091763"/>
            <a:ext cx="3991226" cy="7851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6510">
            <a:solidFill>
              <a:srgbClr val="1E293B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EA083C6-CB20-4DDB-B5C1-45F39511D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656" y="5091763"/>
            <a:ext cx="4002201" cy="7944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54" tIns="254" rIns="254" bIns="254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E293B"/>
                </a:solidFill>
                <a:latin typeface="宋体"/>
                <a:ea typeface="宋体"/>
                <a:cs typeface="宋体"/>
              </a:rPr>
              <a:t>采标映射与企业年度变量生成</a:t>
            </a:r>
          </a:p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E293B"/>
                </a:solidFill>
                <a:latin typeface="宋体"/>
                <a:ea typeface="宋体"/>
                <a:cs typeface="宋体"/>
              </a:rPr>
              <a:t>判断该企业该年度是否存在国际标准采纳证据及数量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B47C9DC7-C920-4312-B189-2B4B44838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962168"/>
            <a:ext cx="461772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5245385F-BA72-45D9-B0BE-3EA8492DB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" y="5999677"/>
            <a:ext cx="432511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图示说明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42C05D67-3695-4DA8-B201-E80373244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2002" y="6275210"/>
            <a:ext cx="432511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“待识别文本片段”按段落或句群切分；第二阶段仅截取片段原文进行结构化识别。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0125E172-0C66-4A89-AA9B-0283F8490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2278" y="5951252"/>
            <a:ext cx="461772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E4A05E85-85D4-47A2-9641-277442C0D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8582" y="6042692"/>
            <a:ext cx="432511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变量口径</a:t>
            </a:r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3A6687C5-663F-4F9B-87A9-5ABC3D1FC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8582" y="6271292"/>
            <a:ext cx="432511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334155"/>
                </a:solidFill>
                <a:latin typeface="Microsoft YaHei"/>
                <a:ea typeface="Microsoft YaHei"/>
                <a:cs typeface="Microsoft YaHei"/>
              </a:rPr>
              <a:t>企业年度层面只判断是否存在采标证据；同一年度多次提及只记录一次。</a:t>
            </a:r>
          </a:p>
        </p:txBody>
      </p:sp>
      <p:sp>
        <p:nvSpPr>
          <p:cNvPr id="39" name="Shape 5">
            <a:extLst xmlns:a="http://schemas.openxmlformats.org/drawingml/2006/main">
              <a:ext uri="{FF2B5EF4-FFF2-40B4-BE49-F238E27FC236}">
                <a16:creationId xmlns:a16="http://schemas.microsoft.com/office/drawing/2014/main" id="{D1DC88D4-73A9-DCC7-8DD9-2B1959882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505" y="1673469"/>
            <a:ext cx="0" cy="30639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1E293B"/>
            </a:solidFill>
            <a:prstDash val="solid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Shape 6">
            <a:extLst xmlns:a="http://schemas.openxmlformats.org/drawingml/2006/main">
              <a:ext uri="{FF2B5EF4-FFF2-40B4-BE49-F238E27FC236}">
                <a16:creationId xmlns:a16="http://schemas.microsoft.com/office/drawing/2014/main" id="{A1A1E46C-2AC9-C8B1-A22E-4D219DECB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1535" y="2943690"/>
            <a:ext cx="0" cy="1828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1E293B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99646986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annual-to-chapters">
            <a:extLst xmlns:a="http://schemas.openxmlformats.org/drawingml/2006/main">
              <a:ext uri="{FF2B5EF4-FFF2-40B4-BE49-F238E27FC236}">
                <a16:creationId xmlns:a16="http://schemas.microsoft.com/office/drawing/2014/main" id="{4D263044-501E-4F1C-BB11-F641789B4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076325"/>
            <a:ext cx="476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E293B"/>
            </a:solidFill>
            <a:prstDash val="solid"/>
          </a:ln>
        </p:spPr>
      </p:sp>
      <p:sp>
        <p:nvSpPr>
          <p:cNvPr id="2" name="chapters-to-units">
            <a:extLst xmlns:a="http://schemas.openxmlformats.org/drawingml/2006/main">
              <a:ext uri="{FF2B5EF4-FFF2-40B4-BE49-F238E27FC236}">
                <a16:creationId xmlns:a16="http://schemas.microsoft.com/office/drawing/2014/main" id="{8ADD0B16-03A4-49C7-8011-A2765DF1F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1076325"/>
            <a:ext cx="476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E293B"/>
            </a:solidFill>
            <a:prstDash val="solid"/>
          </a:ln>
        </p:spPr>
      </p:sp>
      <p:sp>
        <p:nvSpPr>
          <p:cNvPr id="5" name="units-to-keyword-v2">
            <a:extLst xmlns:a="http://schemas.openxmlformats.org/drawingml/2006/main">
              <a:ext uri="{FF2B5EF4-FFF2-40B4-BE49-F238E27FC236}">
                <a16:creationId xmlns:a16="http://schemas.microsoft.com/office/drawing/2014/main" id="{C6BA5EE6-C4DB-4848-85C3-64F408D8F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1664" y="1409699"/>
            <a:ext cx="0" cy="21907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E293B"/>
            </a:solidFill>
            <a:prstDash val="solid"/>
          </a:ln>
        </p:spPr>
      </p:sp>
      <p:sp>
        <p:nvSpPr>
          <p:cNvPr id="6" name="keyword-hit-h">
            <a:extLst xmlns:a="http://schemas.openxmlformats.org/drawingml/2006/main">
              <a:ext uri="{FF2B5EF4-FFF2-40B4-BE49-F238E27FC236}">
                <a16:creationId xmlns:a16="http://schemas.microsoft.com/office/drawing/2014/main" id="{905F67F7-FDAF-4EC9-81A7-2398B9063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076450"/>
            <a:ext cx="2809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E293B"/>
            </a:solidFill>
            <a:prstDash val="solid"/>
          </a:ln>
        </p:spPr>
      </p:sp>
      <p:sp>
        <p:nvSpPr>
          <p:cNvPr id="7" name="keyword-hit-v">
            <a:extLst xmlns:a="http://schemas.openxmlformats.org/drawingml/2006/main">
              <a:ext uri="{FF2B5EF4-FFF2-40B4-BE49-F238E27FC236}">
                <a16:creationId xmlns:a16="http://schemas.microsoft.com/office/drawing/2014/main" id="{28478D7F-56A7-4863-A5B2-4AA239CDD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076450"/>
            <a:ext cx="0" cy="59423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E293B"/>
            </a:solidFill>
            <a:prstDash val="solid"/>
          </a:ln>
        </p:spPr>
      </p:sp>
      <p:sp>
        <p:nvSpPr>
          <p:cNvPr id="8" name="keyword-miss-h">
            <a:extLst xmlns:a="http://schemas.openxmlformats.org/drawingml/2006/main">
              <a:ext uri="{FF2B5EF4-FFF2-40B4-BE49-F238E27FC236}">
                <a16:creationId xmlns:a16="http://schemas.microsoft.com/office/drawing/2014/main" id="{FA1B2BE0-8161-4205-A0F1-CA52BEE87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076450"/>
            <a:ext cx="2428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E293B"/>
            </a:solidFill>
            <a:prstDash val="solid"/>
          </a:ln>
        </p:spPr>
      </p:sp>
      <p:sp>
        <p:nvSpPr>
          <p:cNvPr id="9" name="keyword-miss-v">
            <a:extLst xmlns:a="http://schemas.openxmlformats.org/drawingml/2006/main">
              <a:ext uri="{FF2B5EF4-FFF2-40B4-BE49-F238E27FC236}">
                <a16:creationId xmlns:a16="http://schemas.microsoft.com/office/drawing/2014/main" id="{6D1744E6-9481-41F8-876C-244D5E4CC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076450"/>
            <a:ext cx="0" cy="57149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E293B"/>
            </a:solidFill>
            <a:prstDash val="solid"/>
          </a:ln>
        </p:spPr>
      </p:sp>
      <p:sp>
        <p:nvSpPr>
          <p:cNvPr id="10" name="llm-to-candidates">
            <a:extLst xmlns:a="http://schemas.openxmlformats.org/drawingml/2006/main">
              <a:ext uri="{FF2B5EF4-FFF2-40B4-BE49-F238E27FC236}">
                <a16:creationId xmlns:a16="http://schemas.microsoft.com/office/drawing/2014/main" id="{1F4A5E44-CD70-4FDE-88C3-58504D67E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6562" y="3200400"/>
            <a:ext cx="4544500" cy="190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E293B"/>
            </a:solidFill>
            <a:prstDash val="solid"/>
          </a:ln>
        </p:spPr>
      </p:sp>
      <p:sp>
        <p:nvSpPr>
          <p:cNvPr id="11" name="candidates-to-extraction-v1">
            <a:extLst xmlns:a="http://schemas.openxmlformats.org/drawingml/2006/main">
              <a:ext uri="{FF2B5EF4-FFF2-40B4-BE49-F238E27FC236}">
                <a16:creationId xmlns:a16="http://schemas.microsoft.com/office/drawing/2014/main" id="{30CF3A9E-6D02-4B49-BF16-2F485EE49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707068"/>
            <a:ext cx="0" cy="5524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E293B"/>
            </a:solidFill>
            <a:prstDash val="solid"/>
          </a:ln>
        </p:spPr>
      </p:sp>
      <p:sp>
        <p:nvSpPr>
          <p:cNvPr id="12" name="candidates-to-extraction-h">
            <a:extLst xmlns:a="http://schemas.openxmlformats.org/drawingml/2006/main">
              <a:ext uri="{FF2B5EF4-FFF2-40B4-BE49-F238E27FC236}">
                <a16:creationId xmlns:a16="http://schemas.microsoft.com/office/drawing/2014/main" id="{D41A922B-E0CC-42B0-B771-B30EA66AD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259499"/>
            <a:ext cx="2695575" cy="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E293B"/>
            </a:solidFill>
            <a:prstDash val="solid"/>
          </a:ln>
        </p:spPr>
      </p:sp>
      <p:sp>
        <p:nvSpPr>
          <p:cNvPr id="14" name="extraction-to-mapping">
            <a:extLst xmlns:a="http://schemas.openxmlformats.org/drawingml/2006/main">
              <a:ext uri="{FF2B5EF4-FFF2-40B4-BE49-F238E27FC236}">
                <a16:creationId xmlns:a16="http://schemas.microsoft.com/office/drawing/2014/main" id="{27EBE902-D8F2-4633-BDD2-CC7D7FF38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572000"/>
            <a:ext cx="0" cy="238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E293B"/>
            </a:solidFill>
            <a:prstDash val="solid"/>
          </a:ln>
        </p:spPr>
      </p:sp>
      <p:sp>
        <p:nvSpPr>
          <p:cNvPr id="15" name="mapping-to-aggregate">
            <a:extLst xmlns:a="http://schemas.openxmlformats.org/drawingml/2006/main">
              <a:ext uri="{FF2B5EF4-FFF2-40B4-BE49-F238E27FC236}">
                <a16:creationId xmlns:a16="http://schemas.microsoft.com/office/drawing/2014/main" id="{76734CA3-B46D-473D-973D-D722049D8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95925"/>
            <a:ext cx="0" cy="171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145">
            <a:solidFill>
              <a:srgbClr val="1E293B"/>
            </a:solidFill>
            <a:prstDash val="solid"/>
          </a:ln>
        </p:spPr>
      </p:sp>
      <p:sp>
        <p:nvSpPr>
          <p:cNvPr id="16" name="annual-report-node">
            <a:extLst xmlns:a="http://schemas.openxmlformats.org/drawingml/2006/main">
              <a:ext uri="{FF2B5EF4-FFF2-40B4-BE49-F238E27FC236}">
                <a16:creationId xmlns:a16="http://schemas.microsoft.com/office/drawing/2014/main" id="{466C733A-95D7-4B02-892A-75994750C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742950"/>
            <a:ext cx="2095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669">
            <a:solidFill>
              <a:srgbClr val="1E293B"/>
            </a:solidFill>
            <a:prstDash val="solid"/>
          </a:ln>
        </p:spPr>
      </p:sp>
      <p:sp>
        <p:nvSpPr>
          <p:cNvPr id="17" name="chapter-cleaning-node">
            <a:extLst xmlns:a="http://schemas.openxmlformats.org/drawingml/2006/main">
              <a:ext uri="{FF2B5EF4-FFF2-40B4-BE49-F238E27FC236}">
                <a16:creationId xmlns:a16="http://schemas.microsoft.com/office/drawing/2014/main" id="{669E4D77-4816-4B10-97B9-57519FDB6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742950"/>
            <a:ext cx="2571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669">
            <a:solidFill>
              <a:srgbClr val="1E293B"/>
            </a:solidFill>
            <a:prstDash val="solid"/>
          </a:ln>
        </p:spPr>
      </p:sp>
      <p:sp>
        <p:nvSpPr>
          <p:cNvPr id="18" name="text-unit-node">
            <a:extLst xmlns:a="http://schemas.openxmlformats.org/drawingml/2006/main">
              <a:ext uri="{FF2B5EF4-FFF2-40B4-BE49-F238E27FC236}">
                <a16:creationId xmlns:a16="http://schemas.microsoft.com/office/drawing/2014/main" id="{7696BE85-496A-4C48-B6DF-54BCF20B6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742950"/>
            <a:ext cx="30003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669">
            <a:solidFill>
              <a:srgbClr val="1E293B"/>
            </a:solidFill>
            <a:prstDash val="solid"/>
          </a:ln>
        </p:spPr>
      </p:sp>
      <p:sp>
        <p:nvSpPr>
          <p:cNvPr id="19" name="keyword-recall-node">
            <a:extLst xmlns:a="http://schemas.openxmlformats.org/drawingml/2006/main">
              <a:ext uri="{FF2B5EF4-FFF2-40B4-BE49-F238E27FC236}">
                <a16:creationId xmlns:a16="http://schemas.microsoft.com/office/drawing/2014/main" id="{ECF919F6-E133-4D9A-81C8-3457089D2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33549"/>
            <a:ext cx="2952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6669">
            <a:solidFill>
              <a:srgbClr val="1E293B"/>
            </a:solidFill>
            <a:prstDash val="solid"/>
          </a:ln>
        </p:spPr>
      </p:sp>
      <p:sp>
        <p:nvSpPr>
          <p:cNvPr id="20" name="llm-screen-node">
            <a:extLst xmlns:a="http://schemas.openxmlformats.org/drawingml/2006/main">
              <a:ext uri="{FF2B5EF4-FFF2-40B4-BE49-F238E27FC236}">
                <a16:creationId xmlns:a16="http://schemas.microsoft.com/office/drawing/2014/main" id="{61B43D62-B821-4D4D-9096-FC38D39C6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937" y="2762250"/>
            <a:ext cx="3476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6669">
            <a:solidFill>
              <a:srgbClr val="1E293B"/>
            </a:solidFill>
            <a:prstDash val="solid"/>
          </a:ln>
        </p:spPr>
      </p:sp>
      <p:sp>
        <p:nvSpPr>
          <p:cNvPr id="21" name="candidate-union-node">
            <a:extLst xmlns:a="http://schemas.openxmlformats.org/drawingml/2006/main">
              <a:ext uri="{FF2B5EF4-FFF2-40B4-BE49-F238E27FC236}">
                <a16:creationId xmlns:a16="http://schemas.microsoft.com/office/drawing/2014/main" id="{32BC0215-6B32-47C7-8F85-EAFB7B63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3937" y="2754568"/>
            <a:ext cx="3476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6669">
            <a:solidFill>
              <a:srgbClr val="1E293B"/>
            </a:solidFill>
            <a:prstDash val="solid"/>
          </a:ln>
        </p:spPr>
      </p:sp>
      <p:sp>
        <p:nvSpPr>
          <p:cNvPr id="22" name="structured-extraction-node">
            <a:extLst xmlns:a="http://schemas.openxmlformats.org/drawingml/2006/main">
              <a:ext uri="{FF2B5EF4-FFF2-40B4-BE49-F238E27FC236}">
                <a16:creationId xmlns:a16="http://schemas.microsoft.com/office/drawing/2014/main" id="{12D7A31B-30DB-4FFD-8B6B-2BCED510A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905250"/>
            <a:ext cx="3143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669">
            <a:solidFill>
              <a:srgbClr val="1E293B"/>
            </a:solidFill>
            <a:prstDash val="solid"/>
          </a:ln>
        </p:spPr>
      </p:sp>
      <p:sp>
        <p:nvSpPr>
          <p:cNvPr id="23" name="temporal-mapping-node">
            <a:extLst xmlns:a="http://schemas.openxmlformats.org/drawingml/2006/main">
              <a:ext uri="{FF2B5EF4-FFF2-40B4-BE49-F238E27FC236}">
                <a16:creationId xmlns:a16="http://schemas.microsoft.com/office/drawing/2014/main" id="{F38A4D57-FBFF-4419-A183-01422D0FB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10125"/>
            <a:ext cx="4762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669">
            <a:solidFill>
              <a:srgbClr val="1E293B"/>
            </a:solidFill>
            <a:prstDash val="solid"/>
          </a:ln>
        </p:spPr>
      </p:sp>
      <p:sp>
        <p:nvSpPr>
          <p:cNvPr id="24" name="firm-year-aggregation-node">
            <a:extLst xmlns:a="http://schemas.openxmlformats.org/drawingml/2006/main">
              <a:ext uri="{FF2B5EF4-FFF2-40B4-BE49-F238E27FC236}">
                <a16:creationId xmlns:a16="http://schemas.microsoft.com/office/drawing/2014/main" id="{CBBA1205-F0C4-4DB4-8638-E57631FD2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67375"/>
            <a:ext cx="4762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669">
            <a:solidFill>
              <a:srgbClr val="1E293B"/>
            </a:solidFill>
            <a:prstDash val="solid"/>
          </a:ln>
        </p:spPr>
      </p:sp>
      <p:sp>
        <p:nvSpPr>
          <p:cNvPr id="25" name="arrow-annual-to-chapters">
            <a:extLst xmlns:a="http://schemas.openxmlformats.org/drawingml/2006/main">
              <a:ext uri="{FF2B5EF4-FFF2-40B4-BE49-F238E27FC236}">
                <a16:creationId xmlns:a16="http://schemas.microsoft.com/office/drawing/2014/main" id="{A0F3CA5C-47DA-42BB-9FBD-151A62E60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981325" y="1009650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0">
            <a:solidFill>
              <a:srgbClr val="1E293B"/>
            </a:solidFill>
            <a:prstDash val="solid"/>
          </a:ln>
        </p:spPr>
      </p:sp>
      <p:sp>
        <p:nvSpPr>
          <p:cNvPr id="26" name="arrow-chapters-to-units">
            <a:extLst xmlns:a="http://schemas.openxmlformats.org/drawingml/2006/main">
              <a:ext uri="{FF2B5EF4-FFF2-40B4-BE49-F238E27FC236}">
                <a16:creationId xmlns:a16="http://schemas.microsoft.com/office/drawing/2014/main" id="{8520F7EB-72B8-44CF-86A3-1FB05EDFF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048374" y="1009650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0">
            <a:solidFill>
              <a:srgbClr val="1E293B"/>
            </a:solidFill>
            <a:prstDash val="solid"/>
          </a:ln>
        </p:spPr>
      </p:sp>
      <p:sp>
        <p:nvSpPr>
          <p:cNvPr id="27" name="arrow-units-to-keyword">
            <a:extLst xmlns:a="http://schemas.openxmlformats.org/drawingml/2006/main">
              <a:ext uri="{FF2B5EF4-FFF2-40B4-BE49-F238E27FC236}">
                <a16:creationId xmlns:a16="http://schemas.microsoft.com/office/drawing/2014/main" id="{EA3FB4EA-86F4-4976-BC1C-94A4B0E40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6504039" y="1609722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0">
            <a:solidFill>
              <a:srgbClr val="1E293B"/>
            </a:solidFill>
            <a:prstDash val="solid"/>
          </a:ln>
        </p:spPr>
      </p:sp>
      <p:sp>
        <p:nvSpPr>
          <p:cNvPr id="28" name="arrow-keyword-hit">
            <a:extLst xmlns:a="http://schemas.openxmlformats.org/drawingml/2006/main">
              <a:ext uri="{FF2B5EF4-FFF2-40B4-BE49-F238E27FC236}">
                <a16:creationId xmlns:a16="http://schemas.microsoft.com/office/drawing/2014/main" id="{B9150894-FA52-4C91-AA6E-79B8D250F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10332319" y="2611080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0">
            <a:solidFill>
              <a:srgbClr val="1E293B"/>
            </a:solidFill>
            <a:prstDash val="solid"/>
          </a:ln>
        </p:spPr>
      </p:sp>
      <p:sp>
        <p:nvSpPr>
          <p:cNvPr id="29" name="arrow-keyword-miss">
            <a:extLst xmlns:a="http://schemas.openxmlformats.org/drawingml/2006/main">
              <a:ext uri="{FF2B5EF4-FFF2-40B4-BE49-F238E27FC236}">
                <a16:creationId xmlns:a16="http://schemas.microsoft.com/office/drawing/2014/main" id="{4620F9C3-6555-4E9B-9A35-EA3A245BA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2143125" y="2609850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0">
            <a:solidFill>
              <a:srgbClr val="1E293B"/>
            </a:solidFill>
            <a:prstDash val="solid"/>
          </a:ln>
        </p:spPr>
      </p:sp>
      <p:sp>
        <p:nvSpPr>
          <p:cNvPr id="30" name="arrow-llm-to-candidates">
            <a:extLst xmlns:a="http://schemas.openxmlformats.org/drawingml/2006/main">
              <a:ext uri="{FF2B5EF4-FFF2-40B4-BE49-F238E27FC236}">
                <a16:creationId xmlns:a16="http://schemas.microsoft.com/office/drawing/2014/main" id="{1BB38BEC-EE76-4554-94EC-5B2FE7F92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501062" y="3167523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0">
            <a:solidFill>
              <a:srgbClr val="1E293B"/>
            </a:solidFill>
            <a:prstDash val="solid"/>
          </a:ln>
        </p:spPr>
      </p:sp>
      <p:sp>
        <p:nvSpPr>
          <p:cNvPr id="31" name="arrow-candidates-to-extraction">
            <a:extLst xmlns:a="http://schemas.openxmlformats.org/drawingml/2006/main">
              <a:ext uri="{FF2B5EF4-FFF2-40B4-BE49-F238E27FC236}">
                <a16:creationId xmlns:a16="http://schemas.microsoft.com/office/drawing/2014/main" id="{C34C0F2B-6F7A-41D7-BAFA-65B2F033C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7686675" y="4210050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0">
            <a:solidFill>
              <a:srgbClr val="1E293B"/>
            </a:solidFill>
            <a:prstDash val="solid"/>
          </a:ln>
        </p:spPr>
      </p:sp>
      <p:sp>
        <p:nvSpPr>
          <p:cNvPr id="32" name="arrow-extraction-to-mapping">
            <a:extLst xmlns:a="http://schemas.openxmlformats.org/drawingml/2006/main">
              <a:ext uri="{FF2B5EF4-FFF2-40B4-BE49-F238E27FC236}">
                <a16:creationId xmlns:a16="http://schemas.microsoft.com/office/drawing/2014/main" id="{8B505B9E-3551-4A2A-A939-68E6B5DEA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6048375" y="473392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0">
            <a:solidFill>
              <a:srgbClr val="1E293B"/>
            </a:solidFill>
            <a:prstDash val="solid"/>
          </a:ln>
        </p:spPr>
      </p:sp>
      <p:sp>
        <p:nvSpPr>
          <p:cNvPr id="33" name="arrow-mapping-to-aggregate">
            <a:extLst xmlns:a="http://schemas.openxmlformats.org/drawingml/2006/main">
              <a:ext uri="{FF2B5EF4-FFF2-40B4-BE49-F238E27FC236}">
                <a16:creationId xmlns:a16="http://schemas.microsoft.com/office/drawing/2014/main" id="{C991C55C-583B-4F7D-B2D7-A1C6C641F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6048375" y="559117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0">
            <a:solidFill>
              <a:srgbClr val="1E293B"/>
            </a:solidFill>
            <a:prstDash val="solid"/>
          </a:ln>
        </p:spPr>
      </p:sp>
      <p:sp>
        <p:nvSpPr>
          <p:cNvPr id="34" name="revised-flow-title">
            <a:extLst xmlns:a="http://schemas.openxmlformats.org/drawingml/2006/main">
              <a:ext uri="{FF2B5EF4-FFF2-40B4-BE49-F238E27FC236}">
                <a16:creationId xmlns:a16="http://schemas.microsoft.com/office/drawing/2014/main" id="{8E392C94-BD4D-4F1C-8079-22FEA6B9B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33350"/>
            <a:ext cx="1114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基于年报文本的企业国际技术规则接轨测度流程</a:t>
            </a:r>
          </a:p>
        </p:txBody>
      </p:sp>
      <p:sp>
        <p:nvSpPr>
          <p:cNvPr id="35" name="annual-report-title">
            <a:extLst xmlns:a="http://schemas.openxmlformats.org/drawingml/2006/main">
              <a:ext uri="{FF2B5EF4-FFF2-40B4-BE49-F238E27FC236}">
                <a16:creationId xmlns:a16="http://schemas.microsoft.com/office/drawing/2014/main" id="{460ED3EC-A113-4ECB-A526-34FBACAE9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7429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上市公司年度报告文本</a:t>
            </a:r>
          </a:p>
        </p:txBody>
      </p:sp>
      <p:sp>
        <p:nvSpPr>
          <p:cNvPr id="36" name="chapter-cleaning-title">
            <a:extLst xmlns:a="http://schemas.openxmlformats.org/drawingml/2006/main">
              <a:ext uri="{FF2B5EF4-FFF2-40B4-BE49-F238E27FC236}">
                <a16:creationId xmlns:a16="http://schemas.microsoft.com/office/drawing/2014/main" id="{0B3D45BC-A4AC-470D-916C-86CB09EB9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809625"/>
            <a:ext cx="2419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目标章节识别与文本预处理</a:t>
            </a:r>
          </a:p>
        </p:txBody>
      </p:sp>
      <p:sp>
        <p:nvSpPr>
          <p:cNvPr id="37" name="chapter-cleaning-body">
            <a:extLst xmlns:a="http://schemas.openxmlformats.org/drawingml/2006/main">
              <a:ext uri="{FF2B5EF4-FFF2-40B4-BE49-F238E27FC236}">
                <a16:creationId xmlns:a16="http://schemas.microsoft.com/office/drawing/2014/main" id="{84D4D621-DA70-4BC3-BA21-5BBEE5222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1047750"/>
            <a:ext cx="2381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163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识别预设目标章节；不足 500 字符时回退全文</a:t>
            </a:r>
          </a:p>
        </p:txBody>
      </p:sp>
      <p:sp>
        <p:nvSpPr>
          <p:cNvPr id="38" name="text-unit-title">
            <a:extLst xmlns:a="http://schemas.openxmlformats.org/drawingml/2006/main">
              <a:ext uri="{FF2B5EF4-FFF2-40B4-BE49-F238E27FC236}">
                <a16:creationId xmlns:a16="http://schemas.microsoft.com/office/drawing/2014/main" id="{137259F9-A23B-484D-B3E3-93AD4C397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809625"/>
            <a:ext cx="28479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文本单元构建</a:t>
            </a:r>
          </a:p>
        </p:txBody>
      </p:sp>
      <p:sp>
        <p:nvSpPr>
          <p:cNvPr id="39" name="text-unit-body">
            <a:extLst xmlns:a="http://schemas.openxmlformats.org/drawingml/2006/main">
              <a:ext uri="{FF2B5EF4-FFF2-40B4-BE49-F238E27FC236}">
                <a16:creationId xmlns:a16="http://schemas.microsoft.com/office/drawing/2014/main" id="{C46A5C92-F735-40EA-B433-80BA68BF3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047750"/>
            <a:ext cx="2809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12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段落优先；按句界切分与合并（目标 600–1,200 字符）</a:t>
            </a:r>
          </a:p>
        </p:txBody>
      </p:sp>
      <p:sp>
        <p:nvSpPr>
          <p:cNvPr id="40" name="keyword-recall-title">
            <a:extLst xmlns:a="http://schemas.openxmlformats.org/drawingml/2006/main">
              <a:ext uri="{FF2B5EF4-FFF2-40B4-BE49-F238E27FC236}">
                <a16:creationId xmlns:a16="http://schemas.microsoft.com/office/drawing/2014/main" id="{1BD87287-0457-456A-A0D0-1D0D3E771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762124"/>
            <a:ext cx="2800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关键词规则召回</a:t>
            </a:r>
          </a:p>
        </p:txBody>
      </p:sp>
      <p:sp>
        <p:nvSpPr>
          <p:cNvPr id="41" name="keyword-recall-body">
            <a:extLst xmlns:a="http://schemas.openxmlformats.org/drawingml/2006/main">
              <a:ext uri="{FF2B5EF4-FFF2-40B4-BE49-F238E27FC236}">
                <a16:creationId xmlns:a16="http://schemas.microsoft.com/office/drawing/2014/main" id="{BC515652-6BDF-4477-82F7-CFF3E0600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000249"/>
            <a:ext cx="2762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163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匹配标准号、认证、合格评定、市场准入及管理体系术语</a:t>
            </a:r>
          </a:p>
        </p:txBody>
      </p:sp>
      <p:sp>
        <p:nvSpPr>
          <p:cNvPr id="42" name="llm-screen-title">
            <a:extLst xmlns:a="http://schemas.openxmlformats.org/drawingml/2006/main">
              <a:ext uri="{FF2B5EF4-FFF2-40B4-BE49-F238E27FC236}">
                <a16:creationId xmlns:a16="http://schemas.microsoft.com/office/drawing/2014/main" id="{02CBA401-A345-423C-9266-1F292C8DE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760714"/>
            <a:ext cx="33242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阶段 1：LLM 补充相关性筛选</a:t>
            </a:r>
          </a:p>
        </p:txBody>
      </p:sp>
      <p:sp>
        <p:nvSpPr>
          <p:cNvPr id="43" name="llm-screen-body">
            <a:extLst xmlns:a="http://schemas.openxmlformats.org/drawingml/2006/main">
              <a:ext uri="{FF2B5EF4-FFF2-40B4-BE49-F238E27FC236}">
                <a16:creationId xmlns:a16="http://schemas.microsoft.com/office/drawing/2014/main" id="{844E8428-8576-497E-9335-D6EF74659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17890"/>
            <a:ext cx="3419475" cy="6842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163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仅处理关键词未命中单元；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163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保留 related 和 uncertain，</a:t>
            </a:r>
          </a:p>
          <a:p xmlns:a="http://schemas.openxmlformats.org/drawingml/2006/main">
            <a:pPr algn="ctr">
              <a:lnSpc>
                <a:spcPct val="96000"/>
              </a:lnSpc>
              <a:buNone/>
              <a:defRPr sz="1163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排除 unrelated</a:t>
            </a:r>
          </a:p>
        </p:txBody>
      </p:sp>
      <p:sp>
        <p:nvSpPr>
          <p:cNvPr id="44" name="candidate-union-title">
            <a:extLst xmlns:a="http://schemas.openxmlformats.org/drawingml/2006/main">
              <a:ext uri="{FF2B5EF4-FFF2-40B4-BE49-F238E27FC236}">
                <a16:creationId xmlns:a16="http://schemas.microsoft.com/office/drawing/2014/main" id="{2105B8B9-4937-486D-8ECA-0FBD16643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7" y="2849818"/>
            <a:ext cx="33242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阶段 2 输入候选集</a:t>
            </a:r>
          </a:p>
        </p:txBody>
      </p:sp>
      <p:sp>
        <p:nvSpPr>
          <p:cNvPr id="45" name="candidate-union-body">
            <a:extLst xmlns:a="http://schemas.openxmlformats.org/drawingml/2006/main">
              <a:ext uri="{FF2B5EF4-FFF2-40B4-BE49-F238E27FC236}">
                <a16:creationId xmlns:a16="http://schemas.microsoft.com/office/drawing/2014/main" id="{4967D74C-852B-462E-B8FE-367281AA2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9187" y="3097468"/>
            <a:ext cx="32861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关键词命中单元 ∪ 阶段 1 的 related/uncertain 单元</a:t>
            </a:r>
          </a:p>
        </p:txBody>
      </p:sp>
      <p:sp>
        <p:nvSpPr>
          <p:cNvPr id="46" name="structured-extraction-title">
            <a:extLst xmlns:a="http://schemas.openxmlformats.org/drawingml/2006/main">
              <a:ext uri="{FF2B5EF4-FFF2-40B4-BE49-F238E27FC236}">
                <a16:creationId xmlns:a16="http://schemas.microsoft.com/office/drawing/2014/main" id="{630B5BA7-34F4-4173-8703-213F3E5E7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971925"/>
            <a:ext cx="2990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阶段 2：LLM 结构化信息抽取</a:t>
            </a:r>
          </a:p>
        </p:txBody>
      </p:sp>
      <p:sp>
        <p:nvSpPr>
          <p:cNvPr id="47" name="structured-extraction-body">
            <a:extLst xmlns:a="http://schemas.openxmlformats.org/drawingml/2006/main">
              <a:ext uri="{FF2B5EF4-FFF2-40B4-BE49-F238E27FC236}">
                <a16:creationId xmlns:a16="http://schemas.microsoft.com/office/drawing/2014/main" id="{7DF4CBA0-933E-4661-BC13-2B33CC9D6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210050"/>
            <a:ext cx="2952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识别实体、类型、状态与连续原文证据</a:t>
            </a:r>
          </a:p>
        </p:txBody>
      </p:sp>
      <p:sp>
        <p:nvSpPr>
          <p:cNvPr id="48" name="temporal-mapping-title">
            <a:extLst xmlns:a="http://schemas.openxmlformats.org/drawingml/2006/main">
              <a:ext uri="{FF2B5EF4-FFF2-40B4-BE49-F238E27FC236}">
                <a16:creationId xmlns:a16="http://schemas.microsoft.com/office/drawing/2014/main" id="{20CBD4BB-8F76-481D-BE9C-ECDB934F9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876800"/>
            <a:ext cx="4610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报告期末映射与合格记录判定</a:t>
            </a:r>
          </a:p>
        </p:txBody>
      </p:sp>
      <p:sp>
        <p:nvSpPr>
          <p:cNvPr id="49" name="temporal-mapping-body">
            <a:extLst xmlns:a="http://schemas.openxmlformats.org/drawingml/2006/main">
              <a:ext uri="{FF2B5EF4-FFF2-40B4-BE49-F238E27FC236}">
                <a16:creationId xmlns:a16="http://schemas.microsoft.com/office/drawing/2014/main" id="{1F593D7C-B477-4D7F-9912-917AF098F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114925"/>
            <a:ext cx="4572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163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合格：TYPE_A/C 且 ADOPTED；TYPE_B 且 ADOPTED、报告期末可映射至国际标准；TYPE_D 不计入</a:t>
            </a:r>
          </a:p>
        </p:txBody>
      </p:sp>
      <p:sp>
        <p:nvSpPr>
          <p:cNvPr id="50" name="firm-year-aggregation-title">
            <a:extLst xmlns:a="http://schemas.openxmlformats.org/drawingml/2006/main">
              <a:ext uri="{FF2B5EF4-FFF2-40B4-BE49-F238E27FC236}">
                <a16:creationId xmlns:a16="http://schemas.microsoft.com/office/drawing/2014/main" id="{BA8B0AF7-B534-457E-AB3F-76787A88C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5734050"/>
            <a:ext cx="4610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企业—年度层面指标聚合</a:t>
            </a:r>
          </a:p>
        </p:txBody>
      </p:sp>
      <p:sp>
        <p:nvSpPr>
          <p:cNvPr id="51" name="firm-year-aggregation-body">
            <a:extLst xmlns:a="http://schemas.openxmlformats.org/drawingml/2006/main">
              <a:ext uri="{FF2B5EF4-FFF2-40B4-BE49-F238E27FC236}">
                <a16:creationId xmlns:a16="http://schemas.microsoft.com/office/drawing/2014/main" id="{8736C308-104C-46C9-BC3D-E18C97771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972175"/>
            <a:ext cx="4572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Alignment：至少 1 条合格记录；Breadth：合格实体去重计数</a:t>
            </a:r>
          </a:p>
        </p:txBody>
      </p:sp>
      <p:sp>
        <p:nvSpPr>
          <p:cNvPr id="52" name="route-label-hit">
            <a:extLst xmlns:a="http://schemas.openxmlformats.org/drawingml/2006/main">
              <a:ext uri="{FF2B5EF4-FFF2-40B4-BE49-F238E27FC236}">
                <a16:creationId xmlns:a16="http://schemas.microsoft.com/office/drawing/2014/main" id="{5CF231EF-BA27-4F9B-8D45-39A0CE75E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823125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命中</a:t>
            </a:r>
          </a:p>
        </p:txBody>
      </p:sp>
      <p:sp>
        <p:nvSpPr>
          <p:cNvPr id="53" name="route-label-miss">
            <a:extLst xmlns:a="http://schemas.openxmlformats.org/drawingml/2006/main">
              <a:ext uri="{FF2B5EF4-FFF2-40B4-BE49-F238E27FC236}">
                <a16:creationId xmlns:a16="http://schemas.microsoft.com/office/drawing/2014/main" id="{797CC5D0-D9E2-41B5-959B-394CB3675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5112" y="1760753"/>
            <a:ext cx="828676" cy="3051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未命中</a:t>
            </a:r>
          </a:p>
        </p:txBody>
      </p:sp>
      <p:sp>
        <p:nvSpPr>
          <p:cNvPr id="54" name="route-label-related">
            <a:extLst xmlns:a="http://schemas.openxmlformats.org/drawingml/2006/main">
              <a:ext uri="{FF2B5EF4-FFF2-40B4-BE49-F238E27FC236}">
                <a16:creationId xmlns:a16="http://schemas.microsoft.com/office/drawing/2014/main" id="{0C8CB874-EABF-4690-B2BE-507BBB14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2437" y="2905125"/>
            <a:ext cx="1571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9525" rIns="38100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r</a:t>
            </a:r>
            <a:r>
              <a:rPr sz="10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elated</a:t>
            </a:r>
            <a:r>
              <a:rPr sz="10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0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/</a:t>
            </a:r>
            <a:r>
              <a:rPr sz="10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0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uncertain</a:t>
            </a:r>
          </a:p>
        </p:txBody>
      </p:sp>
      <p:sp>
        <p:nvSpPr>
          <p:cNvPr id="55" name="method-boundary-note">
            <a:extLst xmlns:a="http://schemas.openxmlformats.org/drawingml/2006/main">
              <a:ext uri="{FF2B5EF4-FFF2-40B4-BE49-F238E27FC236}">
                <a16:creationId xmlns:a16="http://schemas.microsoft.com/office/drawing/2014/main" id="{5ECA6B2A-6502-4F9B-8AF6-18D176270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62700"/>
            <a:ext cx="10668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  <p:txBody>
          <a:bodyPr xmlns:a="http://schemas.openxmlformats.org/drawingml/2006/main" wrap="square" lIns="95250" tIns="19050" rIns="9525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相关性｜related：明确涉及标准、认证、管理体系、准入或符合性；uncertain：有弱线索但不足确认；unrelated：无上述线索。
类型｜TYPE_A：明确国际/区域标准；TYPE_B：中国标准；TYPE_C：无明确标准号的境外准入、监管批准或强制法规；TYPE_D：其他认证/认可、国内准入或无匹配（不计入）。
注｜候选来源仅用于路由审计，不输入阶段 2；0 表示年报中未观察到合格披露证据。</a:t>
            </a:r>
          </a:p>
        </p:txBody>
      </p:sp>
    </p:spTree>
    <p:extLst>
      <p:ext uri="{BB962C8B-B14F-4D97-AF65-F5344CB8AC3E}">
        <p14:creationId xmlns:p14="http://schemas.microsoft.com/office/powerpoint/2010/main" val="411886022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2026-07-24T02:42:09.4050000Z</dcterms:created>
  <dcterms:modified xsi:type="dcterms:W3CDTF">2026-07-24T02:42:09.4050000Z</dcterms:modified>
</coreProperties>
</file>